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Source Code Pro"/>
      <p:regular r:id="rId22"/>
      <p:bold r:id="rId23"/>
      <p:italic r:id="rId24"/>
      <p:boldItalic r:id="rId25"/>
    </p:embeddedFont>
    <p:embeddedFont>
      <p:font typeface="Oswa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SourceCodePro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SourceCodePro-italic.fntdata"/><Relationship Id="rId23" Type="http://schemas.openxmlformats.org/officeDocument/2006/relationships/font" Target="fonts/SourceCodePro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Oswald-regular.fntdata"/><Relationship Id="rId25" Type="http://schemas.openxmlformats.org/officeDocument/2006/relationships/font" Target="fonts/SourceCodePro-boldItalic.fntdata"/><Relationship Id="rId27" Type="http://schemas.openxmlformats.org/officeDocument/2006/relationships/font" Target="fonts/Oswal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cfbf3acf8_0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dcfbf3acf8_0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dcfbf3acf8_0_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cfbf3acf8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dcfbf3acf8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dcfbf3acf8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cfbf3acf8_0_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dcfbf3acf8_0_1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dcfbf3acf8_0_1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cfbf3acf8_0_1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dcfbf3acf8_0_1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dcfbf3acf8_0_1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cfdf0216a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dcfdf0216a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dcfdf0216a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cfdf0216a_1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cfdf0216a_1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dcfdf0216a_1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cfdf0216a_1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cfdf0216a_1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dcfdf0216a_1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cfbf3acf8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dcfbf3acf8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dcfbf3acf8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cfbf3acf8_0_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dcfbf3acf8_0_1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dcfbf3acf8_0_1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Google Shape;24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0" name="Google Shape;30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Google Shape;38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/>
          <p:nvPr/>
        </p:nvSpPr>
        <p:spPr>
          <a:xfrm>
            <a:off x="0" y="0"/>
            <a:ext cx="63900" cy="51435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Runtime Shield</a:t>
            </a:r>
            <a:endParaRPr i="0" sz="40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Agentic Systems</a:t>
            </a:r>
            <a:endParaRPr i="0" sz="40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68EE"/>
              </a:buClr>
              <a:buSzPts val="1600"/>
              <a:buFont typeface="Calibri"/>
              <a:buNone/>
            </a:pPr>
            <a:r>
              <a:rPr i="1" lang="en-US" sz="1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Hardening Autonomous Agents with Zero-Trust Workload Identity and Multi-Layer Defense</a:t>
            </a:r>
            <a:endParaRPr i="0" sz="16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/>
          <p:nvPr/>
        </p:nvSpPr>
        <p:spPr>
          <a:xfrm>
            <a:off x="320050" y="112775"/>
            <a:ext cx="8503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Work Done — Core Architecture &amp; Policy Discovery</a:t>
            </a:r>
            <a:endParaRPr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320050" y="1091720"/>
            <a:ext cx="85038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68EE"/>
              </a:buClr>
              <a:buSzPts val="1300"/>
              <a:buFont typeface="Calibri"/>
              <a:buNone/>
            </a:pPr>
            <a:r>
              <a:rPr i="1" lang="en-US" sz="13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Building the Interception Engine</a:t>
            </a:r>
            <a:endParaRPr i="0" sz="13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20050" y="1639358"/>
            <a:ext cx="63900" cy="407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475498" y="1639358"/>
            <a:ext cx="83211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 Secure Bridge (bridge.py)</a:t>
            </a:r>
            <a:endParaRPr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475498" y="2175344"/>
            <a:ext cx="82296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Stateful JSON-RPC middleware intercepting stdin/stdout in real-time. Async multi-threaded I/O ensures 100% inspection coverage with zero-latency impact on the AI user experience.</a:t>
            </a:r>
            <a:endParaRPr i="0" sz="13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20050" y="2757937"/>
            <a:ext cx="63900" cy="407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75498" y="2757937"/>
            <a:ext cx="83211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Automated Security Scanning (mcpwn)</a:t>
            </a:r>
            <a:endParaRPr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475498" y="3293922"/>
            <a:ext cx="82296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Pre-production vulnerability scanner identifies insecure tool definitions — e.g. shell execution or unsafe path access — before deployment.</a:t>
            </a:r>
            <a:endParaRPr i="0" sz="13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320050" y="3876515"/>
            <a:ext cx="63900" cy="407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475498" y="3876515"/>
            <a:ext cx="83211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Policy Learning Mode</a:t>
            </a:r>
            <a:endParaRPr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475498" y="4412501"/>
            <a:ext cx="82296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Passive monitoring state logs unknown or risky tools to discovery.log. Automated Discovery Mode generates new firewall rules, reducing manual policy configuration labor significantly.</a:t>
            </a:r>
            <a:endParaRPr i="0" sz="13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/>
          <p:nvPr/>
        </p:nvSpPr>
        <p:spPr>
          <a:xfrm>
            <a:off x="320040" y="182880"/>
            <a:ext cx="8503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endParaRPr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3" name="Google Shape;93;p16" title="MCP-firewall shield-2026-03-26-0517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12315"/>
            <a:ext cx="8839204" cy="2218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/>
          <p:nvPr/>
        </p:nvSpPr>
        <p:spPr>
          <a:xfrm>
            <a:off x="320040" y="182880"/>
            <a:ext cx="8503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9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Work Done — The Dual Identity Model</a:t>
            </a:r>
            <a:endParaRPr i="0" sz="29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320040" y="1017136"/>
            <a:ext cx="8503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68EE"/>
              </a:buClr>
              <a:buSzPts val="1300"/>
              <a:buFont typeface="Calibri"/>
              <a:buNone/>
            </a:pPr>
            <a:r>
              <a:rPr i="1" lang="en-US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Unified IAM &amp; Cryptographic Trust</a:t>
            </a:r>
            <a:endParaRPr i="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320040" y="1510912"/>
            <a:ext cx="4206300" cy="38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11480" y="1510912"/>
            <a:ext cx="4023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Identity (Keycloak)</a:t>
            </a:r>
            <a:endParaRPr i="0" sz="15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365760" y="1995544"/>
            <a:ext cx="411480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•"/>
            </a:pPr>
            <a:r>
              <a:rPr i="0" lang="en-US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Centralized IAM for human operators and client roles</a:t>
            </a:r>
            <a:endParaRPr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spcBef>
                <a:spcPts val="1000"/>
              </a:spcBef>
              <a:spcAft>
                <a:spcPts val="0"/>
              </a:spcAft>
              <a:buSzPts val="1400"/>
              <a:buFont typeface="Times New Roman"/>
              <a:buChar char="•"/>
            </a:pPr>
            <a:r>
              <a:rPr i="0" lang="en-US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Ensures the human operator has the necessary permissions before any tool executes</a:t>
            </a:r>
            <a:endParaRPr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spcBef>
                <a:spcPts val="1000"/>
              </a:spcBef>
              <a:spcAft>
                <a:spcPts val="0"/>
              </a:spcAft>
              <a:buSzPts val="1400"/>
              <a:buFont typeface="Times New Roman"/>
              <a:buChar char="•"/>
            </a:pPr>
            <a:r>
              <a:rPr i="0" lang="en-US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Analysts can call list_users; only authorized roles can invoke revoke_sessions</a:t>
            </a:r>
            <a:endParaRPr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4754880" y="1510912"/>
            <a:ext cx="4206300" cy="38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4846320" y="1510912"/>
            <a:ext cx="4023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Agent Identity (SPIFFE SVID)</a:t>
            </a:r>
            <a:endParaRPr i="0" sz="15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4800600" y="1995544"/>
            <a:ext cx="411480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•"/>
            </a:pPr>
            <a:r>
              <a:rPr i="0" lang="en-US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Cryptographically asserts that the AI agent itself is authenticated — not a rogue process</a:t>
            </a:r>
            <a:endParaRPr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spcBef>
                <a:spcPts val="1000"/>
              </a:spcBef>
              <a:spcAft>
                <a:spcPts val="0"/>
              </a:spcAft>
              <a:buSzPts val="1400"/>
              <a:buFont typeface="Times New Roman"/>
              <a:buChar char="•"/>
            </a:pPr>
            <a:r>
              <a:rPr i="0" lang="en-US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Tools cannot be executed by a compromised agent even from a valid user session</a:t>
            </a:r>
            <a:endParaRPr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spcBef>
                <a:spcPts val="1000"/>
              </a:spcBef>
              <a:spcAft>
                <a:spcPts val="0"/>
              </a:spcAft>
              <a:buSzPts val="1400"/>
              <a:buFont typeface="Times New Roman"/>
              <a:buChar char="•"/>
            </a:pPr>
            <a:r>
              <a:rPr i="0" lang="en-US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Identity-Aware RBAC maps roles to tool permissions dynamically</a:t>
            </a:r>
            <a:endParaRPr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/>
          <p:nvPr/>
        </p:nvSpPr>
        <p:spPr>
          <a:xfrm>
            <a:off x="320050" y="182874"/>
            <a:ext cx="85038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9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Work Done — Runtime Protection &amp; Visibility</a:t>
            </a:r>
            <a:endParaRPr i="0" sz="29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320050" y="1053489"/>
            <a:ext cx="8503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68EE"/>
              </a:buClr>
              <a:buSzPts val="1300"/>
              <a:buFont typeface="Calibri"/>
              <a:buNone/>
            </a:pPr>
            <a:r>
              <a:rPr i="1" lang="en-US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Resilience, DLP, and Monitoring</a:t>
            </a:r>
            <a:endParaRPr i="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320050" y="1578090"/>
            <a:ext cx="63900" cy="390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475498" y="1578090"/>
            <a:ext cx="8321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5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Dynamic Firewall &amp; DLP</a:t>
            </a:r>
            <a:endParaRPr i="0" sz="15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475498" y="2091529"/>
            <a:ext cx="82296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300"/>
              <a:buFont typeface="Calibri"/>
              <a:buNone/>
            </a:pPr>
            <a:r>
              <a:rPr i="0" lang="en-US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Path Guardrails use glob-pattern matching to block directory traversal (e.g. ../../etc/passwd). In-Flight Redaction scrubs PII — emails, secrets — from tool outputs before the LLM can access them.</a:t>
            </a:r>
            <a:endParaRPr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320050" y="2649615"/>
            <a:ext cx="63900" cy="390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475498" y="2649615"/>
            <a:ext cx="8321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5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Behavioral Fraud Detection Engine</a:t>
            </a:r>
            <a:endParaRPr i="0" sz="15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475498" y="3163055"/>
            <a:ext cx="82296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300"/>
              <a:buFont typeface="Calibri"/>
              <a:buNone/>
            </a:pPr>
            <a:r>
              <a:rPr i="0" lang="en-US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Stateful Risk Scoring tracks violations across Agent and User layers with a 50-point quarantine threshold. Risk Deduplication prevents lockout from rapid AI retries; Risk Decay (5 pts/min) rewards stable behavior.</a:t>
            </a:r>
            <a:endParaRPr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320050" y="3721141"/>
            <a:ext cx="63900" cy="390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475498" y="3721141"/>
            <a:ext cx="8321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5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Security Observability</a:t>
            </a:r>
            <a:endParaRPr i="0" sz="15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475498" y="4234580"/>
            <a:ext cx="82296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300"/>
              <a:buFont typeface="Calibri"/>
              <a:buNone/>
            </a:pPr>
            <a:r>
              <a:rPr i="0" lang="en-US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Real-time dashboard plus comprehensive audit logs (bridge.log, audit.log) provide immediate visibility and post-incident forensics.</a:t>
            </a:r>
            <a:endParaRPr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50" y="0"/>
            <a:ext cx="9088549" cy="51293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7625" y="0"/>
            <a:ext cx="92616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/>
          <p:nvPr/>
        </p:nvSpPr>
        <p:spPr>
          <a:xfrm>
            <a:off x="274320" y="182880"/>
            <a:ext cx="8686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500">
                <a:latin typeface="Times New Roman"/>
                <a:ea typeface="Times New Roman"/>
                <a:cs typeface="Times New Roman"/>
                <a:sym typeface="Times New Roman"/>
              </a:rPr>
              <a:t>Future plan: </a:t>
            </a:r>
            <a:r>
              <a:rPr b="1" i="0" lang="en-US" sz="25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5-Layer Defense Model </a:t>
            </a:r>
            <a:endParaRPr i="0" sz="25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22"/>
          <p:cNvSpPr/>
          <p:nvPr/>
        </p:nvSpPr>
        <p:spPr>
          <a:xfrm>
            <a:off x="320040" y="822960"/>
            <a:ext cx="8503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200"/>
              <a:buFont typeface="Calibri"/>
              <a:buNone/>
            </a:pPr>
            <a:r>
              <a:rPr i="0" lang="en-US" sz="13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Achieving the 'Nemo-Safe OpenClaw' vision requires a 5-layer defensive model:</a:t>
            </a:r>
            <a:endParaRPr i="0" sz="13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689850" y="1216050"/>
            <a:ext cx="7481700" cy="3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Kernel-Level Sandboxing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Landlock and seccomp-bpf to enforce OS-level isolation, containing tool execution within a hardware-locked 'cell'.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Identity-Aware Skill Loading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Mapping tools ('skills') to Keycloak roles, ensuring agents only 'discover' the capabilities they are authorized to use.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Encrypted Secret Injection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Delivering credentials securely in-memory via OIDC-bound tokens, eliminating any persistent secret exposure on disk.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Privacy-Aware Redaction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Multi-stage filtering in the Secure Bridge to detect and mask PII and tokens before they reach the cloud.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Context-Aware HITL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Final control layer requiring Dashboard approval for high-risk actions (e.g., rm -rf), neutralizing autonomous risk.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Future Plan — Implementing the 5 Layers</a:t>
            </a:r>
            <a:endParaRPr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23"/>
          <p:cNvSpPr/>
          <p:nvPr/>
        </p:nvSpPr>
        <p:spPr>
          <a:xfrm>
            <a:off x="320040" y="1011219"/>
            <a:ext cx="63900" cy="320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23"/>
          <p:cNvSpPr/>
          <p:nvPr/>
        </p:nvSpPr>
        <p:spPr>
          <a:xfrm>
            <a:off x="475488" y="1011219"/>
            <a:ext cx="8321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5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Layer 1 — Infrastructure</a:t>
            </a:r>
            <a:endParaRPr i="0" sz="15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23"/>
          <p:cNvSpPr/>
          <p:nvPr/>
        </p:nvSpPr>
        <p:spPr>
          <a:xfrm>
            <a:off x="475488" y="1431843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300"/>
              <a:buFont typeface="Calibri"/>
              <a:buNone/>
            </a:pPr>
            <a:r>
              <a:rPr i="0" lang="en-US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Deploying Landlock LSM for kernel-level sandboxing — restricting file-system access at the OS level.</a:t>
            </a:r>
            <a:endParaRPr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23"/>
          <p:cNvSpPr/>
          <p:nvPr/>
        </p:nvSpPr>
        <p:spPr>
          <a:xfrm>
            <a:off x="320040" y="1861611"/>
            <a:ext cx="63900" cy="320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23"/>
          <p:cNvSpPr/>
          <p:nvPr/>
        </p:nvSpPr>
        <p:spPr>
          <a:xfrm>
            <a:off x="475488" y="1861611"/>
            <a:ext cx="8321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5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Layer 2 — Identity</a:t>
            </a:r>
            <a:endParaRPr i="0" sz="15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23"/>
          <p:cNvSpPr/>
          <p:nvPr/>
        </p:nvSpPr>
        <p:spPr>
          <a:xfrm>
            <a:off x="475488" y="2282235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300"/>
              <a:buFont typeface="Calibri"/>
              <a:buNone/>
            </a:pPr>
            <a:r>
              <a:rPr i="0" lang="en-US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Scaling from SPIFFE to Cross-Domain Identity Orchestration for multi-org trust.</a:t>
            </a:r>
            <a:endParaRPr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23"/>
          <p:cNvSpPr/>
          <p:nvPr/>
        </p:nvSpPr>
        <p:spPr>
          <a:xfrm>
            <a:off x="320040" y="2712003"/>
            <a:ext cx="63900" cy="320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23"/>
          <p:cNvSpPr/>
          <p:nvPr/>
        </p:nvSpPr>
        <p:spPr>
          <a:xfrm>
            <a:off x="475488" y="2712003"/>
            <a:ext cx="8321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5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Layer 3 — Firewall</a:t>
            </a:r>
            <a:endParaRPr i="0" sz="15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23"/>
          <p:cNvSpPr/>
          <p:nvPr/>
        </p:nvSpPr>
        <p:spPr>
          <a:xfrm>
            <a:off x="475488" y="3132627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300"/>
              <a:buFont typeface="Calibri"/>
              <a:buNone/>
            </a:pPr>
            <a:r>
              <a:rPr i="0" lang="en-US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Declarative Policy Engine with Human-in-the-Loop (HITL) approval workflows.</a:t>
            </a:r>
            <a:endParaRPr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23"/>
          <p:cNvSpPr/>
          <p:nvPr/>
        </p:nvSpPr>
        <p:spPr>
          <a:xfrm>
            <a:off x="320040" y="3562395"/>
            <a:ext cx="63900" cy="320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23"/>
          <p:cNvSpPr/>
          <p:nvPr/>
        </p:nvSpPr>
        <p:spPr>
          <a:xfrm>
            <a:off x="475488" y="3562395"/>
            <a:ext cx="8321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5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Layer 4 — Fraud Engine</a:t>
            </a:r>
            <a:endParaRPr i="0" sz="15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23"/>
          <p:cNvSpPr/>
          <p:nvPr/>
        </p:nvSpPr>
        <p:spPr>
          <a:xfrm>
            <a:off x="475488" y="3983019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300"/>
              <a:buFont typeface="Calibri"/>
              <a:buNone/>
            </a:pPr>
            <a:r>
              <a:rPr i="0" lang="en-US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Behavioral Analytics with real-time Risk Decay to distinguish confused AI from malicious actors.</a:t>
            </a:r>
            <a:endParaRPr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3"/>
          <p:cNvSpPr/>
          <p:nvPr/>
        </p:nvSpPr>
        <p:spPr>
          <a:xfrm>
            <a:off x="320040" y="4412787"/>
            <a:ext cx="63900" cy="320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3"/>
          <p:cNvSpPr/>
          <p:nvPr/>
        </p:nvSpPr>
        <p:spPr>
          <a:xfrm>
            <a:off x="475488" y="4412787"/>
            <a:ext cx="8321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5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Layer 5 — Privacy</a:t>
            </a:r>
            <a:endParaRPr i="0" sz="15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23"/>
          <p:cNvSpPr/>
          <p:nvPr/>
        </p:nvSpPr>
        <p:spPr>
          <a:xfrm>
            <a:off x="475488" y="4833411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300"/>
              <a:buFont typeface="Calibri"/>
              <a:buNone/>
            </a:pPr>
            <a:r>
              <a:rPr i="0" lang="en-US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Google Presidio NLP integration for automated PII discovery and scrubbing of multi-modal outputs.</a:t>
            </a:r>
            <a:endParaRPr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 Next Frontier — SCION &amp; Agent Identity</a:t>
            </a:r>
            <a:endParaRPr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24"/>
          <p:cNvSpPr/>
          <p:nvPr/>
        </p:nvSpPr>
        <p:spPr>
          <a:xfrm>
            <a:off x="320040" y="1389888"/>
            <a:ext cx="4206240" cy="3840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24"/>
          <p:cNvSpPr/>
          <p:nvPr/>
        </p:nvSpPr>
        <p:spPr>
          <a:xfrm>
            <a:off x="411480" y="1389888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SCION Integration  (Layer 1)</a:t>
            </a:r>
            <a:endParaRPr i="0" sz="15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24"/>
          <p:cNvSpPr/>
          <p:nvPr/>
        </p:nvSpPr>
        <p:spPr>
          <a:xfrm>
            <a:off x="365760" y="1874520"/>
            <a:ext cx="41148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•"/>
            </a:pPr>
            <a:r>
              <a:rPr i="0" lang="en-US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Moving to Path-Aware Networking for cryptographic proof of network paths taken by agent traffic</a:t>
            </a:r>
            <a:endParaRPr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spcBef>
                <a:spcPts val="1000"/>
              </a:spcBef>
              <a:spcAft>
                <a:spcPts val="0"/>
              </a:spcAft>
              <a:buSzPts val="1400"/>
              <a:buFont typeface="Times New Roman"/>
              <a:buChar char="•"/>
            </a:pPr>
            <a:r>
              <a:rPr i="0" lang="en-US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Immunity to internet-scale routing hijackings</a:t>
            </a:r>
            <a:endParaRPr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spcBef>
                <a:spcPts val="1000"/>
              </a:spcBef>
              <a:spcAft>
                <a:spcPts val="0"/>
              </a:spcAft>
              <a:buSzPts val="1400"/>
              <a:buFont typeface="Times New Roman"/>
              <a:buChar char="•"/>
            </a:pPr>
            <a:r>
              <a:rPr i="0" lang="en-US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DDoS resilience via verifiable path selection</a:t>
            </a:r>
            <a:endParaRPr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24"/>
          <p:cNvSpPr/>
          <p:nvPr/>
        </p:nvSpPr>
        <p:spPr>
          <a:xfrm>
            <a:off x="4754880" y="1389888"/>
            <a:ext cx="4206240" cy="3840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4"/>
          <p:cNvSpPr/>
          <p:nvPr/>
        </p:nvSpPr>
        <p:spPr>
          <a:xfrm>
            <a:off x="4846320" y="1389888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Decentralized Agent Identity  (Layer 2)</a:t>
            </a:r>
            <a:endParaRPr i="0" sz="15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4"/>
          <p:cNvSpPr/>
          <p:nvPr/>
        </p:nvSpPr>
        <p:spPr>
          <a:xfrm>
            <a:off x="4800600" y="1874520"/>
            <a:ext cx="41148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•"/>
            </a:pPr>
            <a:r>
              <a:rPr i="0" lang="en-US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Adopting W3C Decentralized Identifiers (DIDs) and Verifiable Credentials</a:t>
            </a:r>
            <a:endParaRPr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spcBef>
                <a:spcPts val="1000"/>
              </a:spcBef>
              <a:spcAft>
                <a:spcPts val="0"/>
              </a:spcAft>
              <a:buSzPts val="1400"/>
              <a:buFont typeface="Times New Roman"/>
              <a:buChar char="•"/>
            </a:pPr>
            <a:r>
              <a:rPr i="0" lang="en-US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Agents prove identity &amp; liability across org boundaries — no central authority required</a:t>
            </a:r>
            <a:endParaRPr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spcBef>
                <a:spcPts val="1000"/>
              </a:spcBef>
              <a:spcAft>
                <a:spcPts val="0"/>
              </a:spcAft>
              <a:buSzPts val="1400"/>
              <a:buFont typeface="Times New Roman"/>
              <a:buChar char="•"/>
            </a:pPr>
            <a:r>
              <a:rPr i="0" lang="en-US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Enables the Agentic Economy with self-sovereign, interoperable trust</a:t>
            </a:r>
            <a:endParaRPr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"/>
          <p:cNvSpPr/>
          <p:nvPr/>
        </p:nvSpPr>
        <p:spPr>
          <a:xfrm>
            <a:off x="320040" y="182880"/>
            <a:ext cx="8503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9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Developing into a Product</a:t>
            </a:r>
            <a:endParaRPr i="0" sz="29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25"/>
          <p:cNvSpPr/>
          <p:nvPr/>
        </p:nvSpPr>
        <p:spPr>
          <a:xfrm>
            <a:off x="320040" y="896112"/>
            <a:ext cx="8503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68EE"/>
              </a:buClr>
              <a:buSzPts val="1300"/>
              <a:buFont typeface="Calibri"/>
              <a:buNone/>
            </a:pPr>
            <a:r>
              <a:rPr i="1" lang="en-US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Commercial Roadmap for Enterprise AI Security</a:t>
            </a:r>
            <a:endParaRPr i="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5"/>
          <p:cNvSpPr/>
          <p:nvPr/>
        </p:nvSpPr>
        <p:spPr>
          <a:xfrm>
            <a:off x="320040" y="1389888"/>
            <a:ext cx="4206300" cy="38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25"/>
          <p:cNvSpPr/>
          <p:nvPr/>
        </p:nvSpPr>
        <p:spPr>
          <a:xfrm>
            <a:off x="411480" y="1389888"/>
            <a:ext cx="4023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Enterprise Security Dashboard</a:t>
            </a:r>
            <a:endParaRPr i="0" sz="15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25"/>
          <p:cNvSpPr/>
          <p:nvPr/>
        </p:nvSpPr>
        <p:spPr>
          <a:xfrm>
            <a:off x="365760" y="1874520"/>
            <a:ext cx="411480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•"/>
            </a:pPr>
            <a:r>
              <a:rPr i="0" lang="en-US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Central Control Room: real-time agent risk scores and security event heatmaps for security teams</a:t>
            </a:r>
            <a:endParaRPr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spcBef>
                <a:spcPts val="1000"/>
              </a:spcBef>
              <a:spcAft>
                <a:spcPts val="0"/>
              </a:spcAft>
              <a:buSzPts val="1400"/>
              <a:buFont typeface="Times New Roman"/>
              <a:buChar char="•"/>
            </a:pPr>
            <a:r>
              <a:rPr i="0" lang="en-US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No-Code Policy Builder: UI to manage mcp-firewall.yaml across an entire fleet of MCP servers</a:t>
            </a:r>
            <a:endParaRPr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spcBef>
                <a:spcPts val="1000"/>
              </a:spcBef>
              <a:spcAft>
                <a:spcPts val="0"/>
              </a:spcAft>
              <a:buSzPts val="1400"/>
              <a:buFont typeface="Times New Roman"/>
              <a:buChar char="•"/>
            </a:pPr>
            <a:r>
              <a:rPr i="0" lang="en-US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IDE Plugins &amp; SDKs: security sidecar for Cursor, VS Code, and Claude Desktop</a:t>
            </a:r>
            <a:endParaRPr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25"/>
          <p:cNvSpPr/>
          <p:nvPr/>
        </p:nvSpPr>
        <p:spPr>
          <a:xfrm>
            <a:off x="4754880" y="1389888"/>
            <a:ext cx="4206300" cy="38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25"/>
          <p:cNvSpPr/>
          <p:nvPr/>
        </p:nvSpPr>
        <p:spPr>
          <a:xfrm>
            <a:off x="4846320" y="1389888"/>
            <a:ext cx="4023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Compliance-as-Code for AI</a:t>
            </a:r>
            <a:endParaRPr i="0" sz="15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25"/>
          <p:cNvSpPr/>
          <p:nvPr/>
        </p:nvSpPr>
        <p:spPr>
          <a:xfrm>
            <a:off x="4800600" y="1874520"/>
            <a:ext cx="411480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•"/>
            </a:pPr>
            <a:r>
              <a:rPr i="0" lang="en-US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Cryptographically signed audit trails for every AI tool interaction — SOC2, HIPAA, GDPR ready</a:t>
            </a:r>
            <a:endParaRPr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spcBef>
                <a:spcPts val="1000"/>
              </a:spcBef>
              <a:spcAft>
                <a:spcPts val="0"/>
              </a:spcAft>
              <a:buSzPts val="1400"/>
              <a:buFont typeface="Times New Roman"/>
              <a:buChar char="•"/>
            </a:pPr>
            <a:r>
              <a:rPr i="0" lang="en-US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Explainable Blocking: detailed defensive reports for developers and compliance teams when an AI action is blocked</a:t>
            </a:r>
            <a:endParaRPr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342900" marR="0" rtl="0" algn="l">
              <a:spcBef>
                <a:spcPts val="1000"/>
              </a:spcBef>
              <a:spcAft>
                <a:spcPts val="0"/>
              </a:spcAft>
              <a:buSzPts val="1400"/>
              <a:buFont typeface="Times New Roman"/>
              <a:buChar char="•"/>
            </a:pPr>
            <a:r>
              <a:rPr i="0" lang="en-US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Edge Deployment: proxy at enterprise API gateways (Envoy, Kong) for consistent coverage across all approved AI tools</a:t>
            </a:r>
            <a:endParaRPr i="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"/>
          <p:cNvSpPr/>
          <p:nvPr/>
        </p:nvSpPr>
        <p:spPr>
          <a:xfrm>
            <a:off x="304800" y="8890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i="0" sz="3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457200" y="1746775"/>
            <a:ext cx="63900" cy="509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640080" y="1746775"/>
            <a:ext cx="1645800" cy="5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68EE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Accomplishments</a:t>
            </a:r>
            <a:endParaRPr i="0" sz="16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2331722" y="1746775"/>
            <a:ext cx="6400800" cy="5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300"/>
              <a:buFont typeface="Calibri"/>
              <a:buNone/>
            </a:pPr>
            <a:r>
              <a:rPr i="0" lang="en-US" sz="15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Hardened identity foundation (SPIRE + Keycloak) and real-time interception bridge with fraud detection and PII redaction.</a:t>
            </a:r>
            <a:endParaRPr i="0" sz="15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457200" y="2539380"/>
            <a:ext cx="63900" cy="509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40080" y="2539380"/>
            <a:ext cx="1645800" cy="5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68EE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Future Vision</a:t>
            </a:r>
            <a:endParaRPr i="0" sz="16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2331722" y="2539380"/>
            <a:ext cx="6400800" cy="5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300"/>
              <a:buFont typeface="Calibri"/>
              <a:buNone/>
            </a:pPr>
            <a:r>
              <a:rPr i="0" lang="en-US" sz="15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 world-first, 5-layer security runtime for Self-Sovereign AI Agents — from local sandbox to global verifiable fabric.</a:t>
            </a:r>
            <a:endParaRPr i="0" sz="15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457200" y="3331985"/>
            <a:ext cx="63900" cy="509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640080" y="3331985"/>
            <a:ext cx="1645800" cy="5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68EE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Outcome</a:t>
            </a:r>
            <a:endParaRPr i="0" sz="16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2331722" y="3331985"/>
            <a:ext cx="6400800" cy="5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DD"/>
              </a:buClr>
              <a:buSzPts val="1300"/>
              <a:buFont typeface="Calibri"/>
              <a:buNone/>
            </a:pPr>
            <a:r>
              <a:rPr i="0" lang="en-US" sz="15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Enabling safe, compliant, and enterprise-ready agentic automation at scale.</a:t>
            </a:r>
            <a:endParaRPr i="0" sz="15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